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B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E51CAC-7E2F-4BE2-988E-519C23124B86}" v="19" dt="2026-09-16T10:46:23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70" autoAdjust="0"/>
    <p:restoredTop sz="94660"/>
  </p:normalViewPr>
  <p:slideViewPr>
    <p:cSldViewPr snapToGrid="0">
      <p:cViewPr varScale="1">
        <p:scale>
          <a:sx n="72" d="100"/>
          <a:sy n="72" d="100"/>
        </p:scale>
        <p:origin x="882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a A" userId="158dbcc3d40972bc" providerId="LiveId" clId="{92BDB30A-1A5E-49CC-B4C4-7C23CF3515D8}"/>
    <pc:docChg chg="modSld modMainMaster">
      <pc:chgData name="Manasa A" userId="158dbcc3d40972bc" providerId="LiveId" clId="{92BDB30A-1A5E-49CC-B4C4-7C23CF3515D8}" dt="2026-09-16T10:46:23.224" v="21"/>
      <pc:docMkLst>
        <pc:docMk/>
      </pc:docMkLst>
      <pc:sldChg chg="modTransition modAnim">
        <pc:chgData name="Manasa A" userId="158dbcc3d40972bc" providerId="LiveId" clId="{92BDB30A-1A5E-49CC-B4C4-7C23CF3515D8}" dt="2026-09-16T10:46:23.224" v="21"/>
        <pc:sldMkLst>
          <pc:docMk/>
          <pc:sldMk cId="787415986" sldId="256"/>
        </pc:sldMkLst>
      </pc:sldChg>
      <pc:sldChg chg="modTransition modAnim">
        <pc:chgData name="Manasa A" userId="158dbcc3d40972bc" providerId="LiveId" clId="{92BDB30A-1A5E-49CC-B4C4-7C23CF3515D8}" dt="2026-09-16T10:46:23.224" v="21"/>
        <pc:sldMkLst>
          <pc:docMk/>
          <pc:sldMk cId="2345524596" sldId="257"/>
        </pc:sldMkLst>
      </pc:sldChg>
      <pc:sldChg chg="addSp delSp modSp mod modTransition">
        <pc:chgData name="Manasa A" userId="158dbcc3d40972bc" providerId="LiveId" clId="{92BDB30A-1A5E-49CC-B4C4-7C23CF3515D8}" dt="2026-09-16T10:46:23.224" v="21"/>
        <pc:sldMkLst>
          <pc:docMk/>
          <pc:sldMk cId="1120570725" sldId="258"/>
        </pc:sldMkLst>
        <pc:spChg chg="add del mod">
          <ac:chgData name="Manasa A" userId="158dbcc3d40972bc" providerId="LiveId" clId="{92BDB30A-1A5E-49CC-B4C4-7C23CF3515D8}" dt="2026-09-16T10:44:04.047" v="7"/>
          <ac:spMkLst>
            <pc:docMk/>
            <pc:sldMk cId="1120570725" sldId="258"/>
            <ac:spMk id="2" creationId="{E464CC68-95F6-DA2C-6594-232725FAD45C}"/>
          </ac:spMkLst>
        </pc:spChg>
        <pc:spChg chg="mod">
          <ac:chgData name="Manasa A" userId="158dbcc3d40972bc" providerId="LiveId" clId="{92BDB30A-1A5E-49CC-B4C4-7C23CF3515D8}" dt="2026-09-15T16:31:02.273" v="1"/>
          <ac:spMkLst>
            <pc:docMk/>
            <pc:sldMk cId="1120570725" sldId="258"/>
            <ac:spMk id="12" creationId="{A607DF54-9737-2A41-8FFB-BB18A839F7F2}"/>
          </ac:spMkLst>
        </pc:spChg>
      </pc:sldChg>
      <pc:sldChg chg="modSp mod modTransition">
        <pc:chgData name="Manasa A" userId="158dbcc3d40972bc" providerId="LiveId" clId="{92BDB30A-1A5E-49CC-B4C4-7C23CF3515D8}" dt="2026-09-16T10:46:23.224" v="21"/>
        <pc:sldMkLst>
          <pc:docMk/>
          <pc:sldMk cId="1751457302" sldId="259"/>
        </pc:sldMkLst>
        <pc:spChg chg="mod">
          <ac:chgData name="Manasa A" userId="158dbcc3d40972bc" providerId="LiveId" clId="{92BDB30A-1A5E-49CC-B4C4-7C23CF3515D8}" dt="2026-09-15T16:14:41.355" v="0" actId="20577"/>
          <ac:spMkLst>
            <pc:docMk/>
            <pc:sldMk cId="1751457302" sldId="259"/>
            <ac:spMk id="14" creationId="{D491F05D-7CC5-AADD-B59F-C2554F481D85}"/>
          </ac:spMkLst>
        </pc:spChg>
      </pc:sldChg>
      <pc:sldChg chg="modTransition">
        <pc:chgData name="Manasa A" userId="158dbcc3d40972bc" providerId="LiveId" clId="{92BDB30A-1A5E-49CC-B4C4-7C23CF3515D8}" dt="2026-09-16T10:46:23.224" v="21"/>
        <pc:sldMkLst>
          <pc:docMk/>
          <pc:sldMk cId="2012101964" sldId="260"/>
        </pc:sldMkLst>
      </pc:sldChg>
      <pc:sldChg chg="modTransition">
        <pc:chgData name="Manasa A" userId="158dbcc3d40972bc" providerId="LiveId" clId="{92BDB30A-1A5E-49CC-B4C4-7C23CF3515D8}" dt="2026-09-16T10:46:23.224" v="21"/>
        <pc:sldMkLst>
          <pc:docMk/>
          <pc:sldMk cId="802904769" sldId="261"/>
        </pc:sldMkLst>
      </pc:sldChg>
      <pc:sldChg chg="modTransition">
        <pc:chgData name="Manasa A" userId="158dbcc3d40972bc" providerId="LiveId" clId="{92BDB30A-1A5E-49CC-B4C4-7C23CF3515D8}" dt="2026-09-16T10:46:23.224" v="21"/>
        <pc:sldMkLst>
          <pc:docMk/>
          <pc:sldMk cId="3680504143" sldId="262"/>
        </pc:sldMkLst>
      </pc:sldChg>
      <pc:sldChg chg="modTransition">
        <pc:chgData name="Manasa A" userId="158dbcc3d40972bc" providerId="LiveId" clId="{92BDB30A-1A5E-49CC-B4C4-7C23CF3515D8}" dt="2026-09-16T10:46:23.224" v="21"/>
        <pc:sldMkLst>
          <pc:docMk/>
          <pc:sldMk cId="2793429012" sldId="263"/>
        </pc:sldMkLst>
      </pc:sldChg>
      <pc:sldChg chg="modTransition">
        <pc:chgData name="Manasa A" userId="158dbcc3d40972bc" providerId="LiveId" clId="{92BDB30A-1A5E-49CC-B4C4-7C23CF3515D8}" dt="2026-09-16T10:46:23.224" v="21"/>
        <pc:sldMkLst>
          <pc:docMk/>
          <pc:sldMk cId="1040962485" sldId="264"/>
        </pc:sldMkLst>
      </pc:sldChg>
      <pc:sldChg chg="modTransition">
        <pc:chgData name="Manasa A" userId="158dbcc3d40972bc" providerId="LiveId" clId="{92BDB30A-1A5E-49CC-B4C4-7C23CF3515D8}" dt="2026-09-16T10:46:23.224" v="21"/>
        <pc:sldMkLst>
          <pc:docMk/>
          <pc:sldMk cId="881222667" sldId="265"/>
        </pc:sldMkLst>
      </pc:sldChg>
      <pc:sldChg chg="modTransition">
        <pc:chgData name="Manasa A" userId="158dbcc3d40972bc" providerId="LiveId" clId="{92BDB30A-1A5E-49CC-B4C4-7C23CF3515D8}" dt="2026-09-16T10:46:23.224" v="21"/>
        <pc:sldMkLst>
          <pc:docMk/>
          <pc:sldMk cId="2185111818" sldId="266"/>
        </pc:sldMkLst>
      </pc:sldChg>
      <pc:sldMasterChg chg="modTransition modSldLayout">
        <pc:chgData name="Manasa A" userId="158dbcc3d40972bc" providerId="LiveId" clId="{92BDB30A-1A5E-49CC-B4C4-7C23CF3515D8}" dt="2026-09-16T10:46:23.224" v="21"/>
        <pc:sldMasterMkLst>
          <pc:docMk/>
          <pc:sldMasterMk cId="516184513" sldId="2147483648"/>
        </pc:sldMasterMkLst>
        <pc:sldLayoutChg chg="modTransition">
          <pc:chgData name="Manasa A" userId="158dbcc3d40972bc" providerId="LiveId" clId="{92BDB30A-1A5E-49CC-B4C4-7C23CF3515D8}" dt="2026-09-16T10:46:23.224" v="21"/>
          <pc:sldLayoutMkLst>
            <pc:docMk/>
            <pc:sldMasterMk cId="516184513" sldId="2147483648"/>
            <pc:sldLayoutMk cId="324113427" sldId="2147483649"/>
          </pc:sldLayoutMkLst>
        </pc:sldLayoutChg>
        <pc:sldLayoutChg chg="modTransition">
          <pc:chgData name="Manasa A" userId="158dbcc3d40972bc" providerId="LiveId" clId="{92BDB30A-1A5E-49CC-B4C4-7C23CF3515D8}" dt="2026-09-16T10:46:23.224" v="21"/>
          <pc:sldLayoutMkLst>
            <pc:docMk/>
            <pc:sldMasterMk cId="516184513" sldId="2147483648"/>
            <pc:sldLayoutMk cId="2623550129" sldId="2147483650"/>
          </pc:sldLayoutMkLst>
        </pc:sldLayoutChg>
        <pc:sldLayoutChg chg="modTransition">
          <pc:chgData name="Manasa A" userId="158dbcc3d40972bc" providerId="LiveId" clId="{92BDB30A-1A5E-49CC-B4C4-7C23CF3515D8}" dt="2026-09-16T10:46:23.224" v="21"/>
          <pc:sldLayoutMkLst>
            <pc:docMk/>
            <pc:sldMasterMk cId="516184513" sldId="2147483648"/>
            <pc:sldLayoutMk cId="1892764933" sldId="2147483651"/>
          </pc:sldLayoutMkLst>
        </pc:sldLayoutChg>
        <pc:sldLayoutChg chg="modTransition">
          <pc:chgData name="Manasa A" userId="158dbcc3d40972bc" providerId="LiveId" clId="{92BDB30A-1A5E-49CC-B4C4-7C23CF3515D8}" dt="2026-09-16T10:46:23.224" v="21"/>
          <pc:sldLayoutMkLst>
            <pc:docMk/>
            <pc:sldMasterMk cId="516184513" sldId="2147483648"/>
            <pc:sldLayoutMk cId="3492916107" sldId="2147483652"/>
          </pc:sldLayoutMkLst>
        </pc:sldLayoutChg>
        <pc:sldLayoutChg chg="modTransition">
          <pc:chgData name="Manasa A" userId="158dbcc3d40972bc" providerId="LiveId" clId="{92BDB30A-1A5E-49CC-B4C4-7C23CF3515D8}" dt="2026-09-16T10:46:23.224" v="21"/>
          <pc:sldLayoutMkLst>
            <pc:docMk/>
            <pc:sldMasterMk cId="516184513" sldId="2147483648"/>
            <pc:sldLayoutMk cId="846144243" sldId="2147483653"/>
          </pc:sldLayoutMkLst>
        </pc:sldLayoutChg>
        <pc:sldLayoutChg chg="modTransition">
          <pc:chgData name="Manasa A" userId="158dbcc3d40972bc" providerId="LiveId" clId="{92BDB30A-1A5E-49CC-B4C4-7C23CF3515D8}" dt="2026-09-16T10:46:23.224" v="21"/>
          <pc:sldLayoutMkLst>
            <pc:docMk/>
            <pc:sldMasterMk cId="516184513" sldId="2147483648"/>
            <pc:sldLayoutMk cId="244310497" sldId="2147483654"/>
          </pc:sldLayoutMkLst>
        </pc:sldLayoutChg>
        <pc:sldLayoutChg chg="modTransition">
          <pc:chgData name="Manasa A" userId="158dbcc3d40972bc" providerId="LiveId" clId="{92BDB30A-1A5E-49CC-B4C4-7C23CF3515D8}" dt="2026-09-16T10:46:23.224" v="21"/>
          <pc:sldLayoutMkLst>
            <pc:docMk/>
            <pc:sldMasterMk cId="516184513" sldId="2147483648"/>
            <pc:sldLayoutMk cId="2780024939" sldId="2147483655"/>
          </pc:sldLayoutMkLst>
        </pc:sldLayoutChg>
        <pc:sldLayoutChg chg="modTransition">
          <pc:chgData name="Manasa A" userId="158dbcc3d40972bc" providerId="LiveId" clId="{92BDB30A-1A5E-49CC-B4C4-7C23CF3515D8}" dt="2026-09-16T10:46:23.224" v="21"/>
          <pc:sldLayoutMkLst>
            <pc:docMk/>
            <pc:sldMasterMk cId="516184513" sldId="2147483648"/>
            <pc:sldLayoutMk cId="3019184644" sldId="2147483656"/>
          </pc:sldLayoutMkLst>
        </pc:sldLayoutChg>
        <pc:sldLayoutChg chg="modTransition">
          <pc:chgData name="Manasa A" userId="158dbcc3d40972bc" providerId="LiveId" clId="{92BDB30A-1A5E-49CC-B4C4-7C23CF3515D8}" dt="2026-09-16T10:46:23.224" v="21"/>
          <pc:sldLayoutMkLst>
            <pc:docMk/>
            <pc:sldMasterMk cId="516184513" sldId="2147483648"/>
            <pc:sldLayoutMk cId="2826365122" sldId="2147483657"/>
          </pc:sldLayoutMkLst>
        </pc:sldLayoutChg>
        <pc:sldLayoutChg chg="modTransition">
          <pc:chgData name="Manasa A" userId="158dbcc3d40972bc" providerId="LiveId" clId="{92BDB30A-1A5E-49CC-B4C4-7C23CF3515D8}" dt="2026-09-16T10:46:23.224" v="21"/>
          <pc:sldLayoutMkLst>
            <pc:docMk/>
            <pc:sldMasterMk cId="516184513" sldId="2147483648"/>
            <pc:sldLayoutMk cId="344832514" sldId="2147483658"/>
          </pc:sldLayoutMkLst>
        </pc:sldLayoutChg>
        <pc:sldLayoutChg chg="modTransition">
          <pc:chgData name="Manasa A" userId="158dbcc3d40972bc" providerId="LiveId" clId="{92BDB30A-1A5E-49CC-B4C4-7C23CF3515D8}" dt="2026-09-16T10:46:23.224" v="21"/>
          <pc:sldLayoutMkLst>
            <pc:docMk/>
            <pc:sldMasterMk cId="516184513" sldId="2147483648"/>
            <pc:sldLayoutMk cId="498650862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21BE1-15DC-46EF-959B-9ED4BD9D48C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CC2A4A-3FE3-4EAD-98FF-E5325F6145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395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C2A4A-3FE3-4EAD-98FF-E5325F6145F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653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DD81-5812-3A97-BE00-20AA262A3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D9B50B-3ACC-4C2D-71F0-6844D2780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34AE1-2609-88B8-CBCB-288F61AE3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8196F-09C1-42E0-8381-28A9628D76D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FC1DA-09A4-5599-E2D4-7C974B693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98915-A5CA-C892-A4B7-F71F06B33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BBF-BA81-4474-B0DC-099FD202B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13427"/>
      </p:ext>
    </p:extLst>
  </p:cSld>
  <p:clrMapOvr>
    <a:masterClrMapping/>
  </p:clrMapOvr>
  <p:transition spd="slow">
    <p:cover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A245B-E963-A78F-DA90-316165957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B00FD-37F8-6FCC-C963-C6D37AEA7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486E4-4B2F-A2BD-ADA8-55CD538DD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8196F-09C1-42E0-8381-28A9628D76D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34087-91C6-0EBC-8445-584E10DD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0D5BB-C5FA-9CDA-241A-5BEFC4F65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BBF-BA81-4474-B0DC-099FD202B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550129"/>
      </p:ext>
    </p:extLst>
  </p:cSld>
  <p:clrMapOvr>
    <a:masterClrMapping/>
  </p:clrMapOvr>
  <p:transition spd="slow">
    <p:cover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294BF-BE05-EF74-2343-63FD06983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E9E58-5A4E-B0A6-E401-9087C4034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B4B71-8C90-F4E8-D80F-2BC75D490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8196F-09C1-42E0-8381-28A9628D76D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1F47E-95B1-3FC7-F10B-A79E0AC49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2371B-773E-2651-B62B-75A6A46A9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BBF-BA81-4474-B0DC-099FD202B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764933"/>
      </p:ext>
    </p:extLst>
  </p:cSld>
  <p:clrMapOvr>
    <a:masterClrMapping/>
  </p:clrMapOvr>
  <p:transition spd="slow">
    <p:cover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AD4A7-5A35-62B8-AC3C-989F94EE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5A0E3-B45A-E371-6C37-642E69E562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B8D62-95A4-BCA6-24C1-4EBB09EF4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317EB-261C-8BA2-2F28-A64E71964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8196F-09C1-42E0-8381-28A9628D76D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E812C-06C7-92CA-4AF7-F3CD8EE5E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4CE8A-7487-7F13-A559-D53A73DF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BBF-BA81-4474-B0DC-099FD202B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916107"/>
      </p:ext>
    </p:extLst>
  </p:cSld>
  <p:clrMapOvr>
    <a:masterClrMapping/>
  </p:clrMapOvr>
  <p:transition spd="slow">
    <p:cover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AB5A2-9FDE-83F2-EDDE-6C973A56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F2094-876C-B04F-7DAE-09E03DCB2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99862-4F18-7ECA-CB85-56FBCAF70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EF955-940F-4976-EE36-22550398A8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8EDB73-33E1-44C6-88F6-88FCC2CD6E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B3AEA5-7788-8104-C0F9-4888314DB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8196F-09C1-42E0-8381-28A9628D76D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1E1043-A910-8600-AABA-42828E658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25DE2-80A9-1D9C-D1C4-EEB42132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BBF-BA81-4474-B0DC-099FD202B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144243"/>
      </p:ext>
    </p:extLst>
  </p:cSld>
  <p:clrMapOvr>
    <a:masterClrMapping/>
  </p:clrMapOvr>
  <p:transition spd="slow">
    <p:cover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189FB-6A1C-DAB1-2C84-F3EF02127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BECDCF-A4F2-F458-038B-9B3E02DAA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8196F-09C1-42E0-8381-28A9628D76D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A19F9-C732-1DAD-9188-22089788A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B158F-ADA9-C82D-4C10-0E955F733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BBF-BA81-4474-B0DC-099FD202B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10497"/>
      </p:ext>
    </p:extLst>
  </p:cSld>
  <p:clrMapOvr>
    <a:masterClrMapping/>
  </p:clrMapOvr>
  <p:transition spd="slow">
    <p:cover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D52E8C-3DBA-3E73-1F7D-31FFBBC50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8196F-09C1-42E0-8381-28A9628D76D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0632E-5DAB-F314-5CFE-DCC23D0D4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E7B03-E64F-ED7E-5427-9C5A0DF57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BBF-BA81-4474-B0DC-099FD202B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024939"/>
      </p:ext>
    </p:extLst>
  </p:cSld>
  <p:clrMapOvr>
    <a:masterClrMapping/>
  </p:clrMapOvr>
  <p:transition spd="slow">
    <p:cover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0C549-8871-2F48-7527-0C07CBCCB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357D2-81A2-3F95-286A-2E8362EDA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7D2BB-95E9-689D-B7D3-1DB539C38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EB5E5-F71A-7AA7-7D4E-EDC94E00A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8196F-09C1-42E0-8381-28A9628D76D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A5D8E-0EC8-892A-AFB2-FF57AE3BB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68F73-A600-C698-D4CB-E708F0015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BBF-BA81-4474-B0DC-099FD202B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184644"/>
      </p:ext>
    </p:extLst>
  </p:cSld>
  <p:clrMapOvr>
    <a:masterClrMapping/>
  </p:clrMapOvr>
  <p:transition spd="slow">
    <p:cover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F708C-6736-A549-B8E0-6C99B3D17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78BF2F-B035-1C71-B3AC-E402D49C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0A6CFC-998A-A4B3-02FB-3B9251588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2A0AB-8ABB-902A-05E4-218099CEB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8196F-09C1-42E0-8381-28A9628D76D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F5F0C-669E-5B91-A61F-74F29D41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6892C-BA02-BB56-DC6C-A645A3ED4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BBF-BA81-4474-B0DC-099FD202B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365122"/>
      </p:ext>
    </p:extLst>
  </p:cSld>
  <p:clrMapOvr>
    <a:masterClrMapping/>
  </p:clrMapOvr>
  <p:transition spd="slow">
    <p:cover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81A4D-A2FB-AFD1-56A8-5FFF746A7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4C32AA-DD46-F3C7-1907-4806D1BF5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B4AE0-BCD4-3499-E4FE-B421E0456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8196F-09C1-42E0-8381-28A9628D76D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AF535-5653-9802-6CB5-D71D671B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AA37F-1634-584D-FE60-4D83AB74B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BBF-BA81-4474-B0DC-099FD202B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32514"/>
      </p:ext>
    </p:extLst>
  </p:cSld>
  <p:clrMapOvr>
    <a:masterClrMapping/>
  </p:clrMapOvr>
  <p:transition spd="slow">
    <p:cover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314F36-1532-774E-B97A-F586DD7A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E6BCF-1CEE-F09B-D3EA-7CD7C6BBB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3237B-2CCF-F4D5-F117-2E41A300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8196F-09C1-42E0-8381-28A9628D76D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9540C-73F0-916D-40F2-26BA3D68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56C9A-1445-F0FE-6D44-80407BB1F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FEBBF-BA81-4474-B0DC-099FD202B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650862"/>
      </p:ext>
    </p:extLst>
  </p:cSld>
  <p:clrMapOvr>
    <a:masterClrMapping/>
  </p:clrMapOvr>
  <p:transition spd="slow">
    <p:cover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B353BF-74B4-2633-1AED-59B681636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905F7-B93E-BA5E-D4D4-3EEB615DF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78ED4-7A3C-511B-D7C4-5937E3FFB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48196F-09C1-42E0-8381-28A9628D76D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A8A45-DEA8-8B27-025A-C52F1E13AB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BB940-EFE4-685A-E6D2-0B8449474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8FEBBF-BA81-4474-B0DC-099FD202B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184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08E709B-383F-68DF-A4DF-21BD4D1D6D91}"/>
              </a:ext>
            </a:extLst>
          </p:cNvPr>
          <p:cNvSpPr txBox="1"/>
          <p:nvPr/>
        </p:nvSpPr>
        <p:spPr>
          <a:xfrm>
            <a:off x="993913" y="103569"/>
            <a:ext cx="10402957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ENTERPRISE FINANCIAL AUDIT DASHBOARD</a:t>
            </a:r>
          </a:p>
          <a:p>
            <a:pPr algn="ctr"/>
            <a:endParaRPr lang="en-IN" sz="3600" b="1" dirty="0">
              <a:solidFill>
                <a:srgbClr val="0070C0"/>
              </a:solidFill>
              <a:latin typeface="+mj-lt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latin typeface="+mj-lt"/>
                <a:cs typeface="Times New Roman" panose="02020603050405020304" pitchFamily="18" charset="0"/>
              </a:rPr>
              <a:t>Data Reconciliation &amp; Financial Analysis</a:t>
            </a:r>
          </a:p>
          <a:p>
            <a:pPr algn="ctr"/>
            <a:endParaRPr lang="en-IN" sz="2800" dirty="0">
              <a:latin typeface="+mj-lt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A Python, SQL &amp; Power BI Analytics Project</a:t>
            </a:r>
          </a:p>
          <a:p>
            <a:pPr algn="ctr"/>
            <a:endParaRPr lang="en-IN" sz="2800" dirty="0">
              <a:latin typeface="+mj-lt"/>
              <a:cs typeface="Times New Roman" panose="02020603050405020304" pitchFamily="18" charset="0"/>
            </a:endParaRPr>
          </a:p>
          <a:p>
            <a:pPr algn="ctr"/>
            <a:endParaRPr lang="en-IN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BA611C-8515-2E84-FA46-71A3A9576904}"/>
              </a:ext>
            </a:extLst>
          </p:cNvPr>
          <p:cNvSpPr txBox="1"/>
          <p:nvPr/>
        </p:nvSpPr>
        <p:spPr>
          <a:xfrm>
            <a:off x="993913" y="3729098"/>
            <a:ext cx="60960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cs typeface="Times New Roman" panose="02020603050405020304" pitchFamily="18" charset="0"/>
              </a:rPr>
              <a:t>Prepared by:</a:t>
            </a:r>
          </a:p>
          <a:p>
            <a:endParaRPr lang="en-IN" dirty="0"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MANASA A</a:t>
            </a:r>
          </a:p>
          <a:p>
            <a:r>
              <a:rPr lang="en-IN" sz="2000" b="1" dirty="0">
                <a:cs typeface="Times New Roman" panose="02020603050405020304" pitchFamily="18" charset="0"/>
              </a:rPr>
              <a:t>Data Analytics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27BB22E-C95D-A851-AC4A-B98794A01751}"/>
              </a:ext>
            </a:extLst>
          </p:cNvPr>
          <p:cNvSpPr/>
          <p:nvPr/>
        </p:nvSpPr>
        <p:spPr>
          <a:xfrm>
            <a:off x="993913" y="5440017"/>
            <a:ext cx="10402957" cy="680664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800" dirty="0">
                <a:cs typeface="Times New Roman" panose="02020603050405020304" pitchFamily="18" charset="0"/>
              </a:rPr>
              <a:t>Financial</a:t>
            </a:r>
            <a:r>
              <a:rPr lang="en-IN" sz="2800" dirty="0"/>
              <a:t> Data Extraction, Reconciliation &amp; Business Intelligence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AB72607-2B68-F04C-C369-20994C48A53C}"/>
              </a:ext>
            </a:extLst>
          </p:cNvPr>
          <p:cNvCxnSpPr/>
          <p:nvPr/>
        </p:nvCxnSpPr>
        <p:spPr>
          <a:xfrm>
            <a:off x="4949687" y="967409"/>
            <a:ext cx="256429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9CDACE9-1216-0A29-60EA-6484816C7EFA}"/>
              </a:ext>
            </a:extLst>
          </p:cNvPr>
          <p:cNvSpPr txBox="1"/>
          <p:nvPr/>
        </p:nvSpPr>
        <p:spPr>
          <a:xfrm>
            <a:off x="3183835" y="281344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+mj-lt"/>
                <a:cs typeface="Times New Roman" panose="02020603050405020304" pitchFamily="18" charset="0"/>
              </a:rPr>
              <a:t>Python </a:t>
            </a:r>
            <a:r>
              <a:rPr lang="en-IN" sz="2800" dirty="0">
                <a:latin typeface="+mj-lt"/>
                <a:cs typeface="Times New Roman" panose="02020603050405020304" pitchFamily="18" charset="0"/>
              </a:rPr>
              <a:t>| </a:t>
            </a:r>
            <a:r>
              <a:rPr lang="en-IN" sz="2800" b="1" dirty="0">
                <a:latin typeface="+mj-lt"/>
                <a:cs typeface="Times New Roman" panose="02020603050405020304" pitchFamily="18" charset="0"/>
              </a:rPr>
              <a:t>SQL</a:t>
            </a:r>
            <a:r>
              <a:rPr lang="en-IN" sz="2800" dirty="0">
                <a:latin typeface="+mj-lt"/>
                <a:cs typeface="Times New Roman" panose="02020603050405020304" pitchFamily="18" charset="0"/>
              </a:rPr>
              <a:t> | </a:t>
            </a:r>
            <a:r>
              <a:rPr lang="en-IN" sz="2800" b="1" dirty="0">
                <a:latin typeface="+mj-lt"/>
                <a:cs typeface="Times New Roman" panose="02020603050405020304" pitchFamily="18" charset="0"/>
              </a:rPr>
              <a:t>Power BI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774576-9576-B1F7-A144-09FE9E80865E}"/>
              </a:ext>
            </a:extLst>
          </p:cNvPr>
          <p:cNvSpPr txBox="1"/>
          <p:nvPr/>
        </p:nvSpPr>
        <p:spPr>
          <a:xfrm>
            <a:off x="5655365" y="6268205"/>
            <a:ext cx="11529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cs typeface="Times New Roman" panose="02020603050405020304" pitchFamily="18" charset="0"/>
              </a:rPr>
              <a:t>2026</a:t>
            </a:r>
            <a:r>
              <a:rPr lang="en-IN" sz="2800" b="1" dirty="0">
                <a:solidFill>
                  <a:srgbClr val="0070C0"/>
                </a:solidFill>
              </a:rPr>
              <a:t> 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1CB8A1-C69D-5716-7E5A-0BAC6DE2BC03}"/>
              </a:ext>
            </a:extLst>
          </p:cNvPr>
          <p:cNvCxnSpPr/>
          <p:nvPr/>
        </p:nvCxnSpPr>
        <p:spPr>
          <a:xfrm>
            <a:off x="5413513" y="1066800"/>
            <a:ext cx="155050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415986"/>
      </p:ext>
    </p:extLst>
  </p:cSld>
  <p:clrMapOvr>
    <a:masterClrMapping/>
  </p:clrMapOvr>
  <p:transition spd="slow">
    <p:cover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4E5186-68CB-0F6E-0424-13DE7A3C9BDB}"/>
              </a:ext>
            </a:extLst>
          </p:cNvPr>
          <p:cNvSpPr txBox="1"/>
          <p:nvPr/>
        </p:nvSpPr>
        <p:spPr>
          <a:xfrm>
            <a:off x="1262269" y="269221"/>
            <a:ext cx="96674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Business Scenario &amp; Problem Statement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424A44-00F1-0964-49C8-0F71C57CE4A4}"/>
              </a:ext>
            </a:extLst>
          </p:cNvPr>
          <p:cNvSpPr/>
          <p:nvPr/>
        </p:nvSpPr>
        <p:spPr>
          <a:xfrm>
            <a:off x="4701209" y="2054087"/>
            <a:ext cx="3187147" cy="274982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b="1" dirty="0">
                <a:solidFill>
                  <a:srgbClr val="0070C0"/>
                </a:solidFill>
              </a:rPr>
              <a:t>2. CHALLENGE</a:t>
            </a:r>
          </a:p>
          <a:p>
            <a:pPr algn="ctr"/>
            <a:endParaRPr lang="en-IN" dirty="0"/>
          </a:p>
          <a:p>
            <a:r>
              <a:rPr lang="en-IN" sz="1600" dirty="0"/>
              <a:t>Financial data was stored across SQL records, unstructured server logs and daily exchange-rate files, requiring extraction, cleaning and reconciliation</a:t>
            </a:r>
            <a:r>
              <a:rPr lang="en-IN" dirty="0"/>
              <a:t>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9C2441-7080-2762-CD42-E8798B90BF5B}"/>
              </a:ext>
            </a:extLst>
          </p:cNvPr>
          <p:cNvSpPr/>
          <p:nvPr/>
        </p:nvSpPr>
        <p:spPr>
          <a:xfrm>
            <a:off x="8521147" y="2054087"/>
            <a:ext cx="3187147" cy="274982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70C0"/>
                </a:solidFill>
              </a:rPr>
              <a:t>3. OBJECTIVE</a:t>
            </a:r>
          </a:p>
          <a:p>
            <a:pPr algn="ctr"/>
            <a:endParaRPr lang="en-IN" dirty="0"/>
          </a:p>
          <a:p>
            <a:r>
              <a:rPr lang="en-IN" sz="1600" dirty="0"/>
              <a:t>Build an efficient Python and SQL data pipeline and create a Power BI dashboard to </a:t>
            </a:r>
            <a:r>
              <a:rPr lang="en-IN" sz="1600" dirty="0" err="1"/>
              <a:t>analyze</a:t>
            </a:r>
            <a:r>
              <a:rPr lang="en-IN" sz="1600" dirty="0"/>
              <a:t> revenue trends and valuable customers.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C2C6ABD-7A5A-1801-6901-259F0FE6227A}"/>
              </a:ext>
            </a:extLst>
          </p:cNvPr>
          <p:cNvSpPr/>
          <p:nvPr/>
        </p:nvSpPr>
        <p:spPr>
          <a:xfrm>
            <a:off x="483707" y="2133599"/>
            <a:ext cx="3584712" cy="267031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IN" b="1" dirty="0">
                <a:solidFill>
                  <a:srgbClr val="0070C0"/>
                </a:solidFill>
              </a:rPr>
              <a:t>BUSINESS CONTEXT</a:t>
            </a:r>
          </a:p>
          <a:p>
            <a:pPr algn="ctr"/>
            <a:endParaRPr lang="en-IN" b="1" dirty="0">
              <a:solidFill>
                <a:srgbClr val="0070C0"/>
              </a:solidFill>
            </a:endParaRPr>
          </a:p>
          <a:p>
            <a:r>
              <a:rPr lang="en-IN" sz="1600" dirty="0"/>
              <a:t>A FinTech company needs a reliable financial audit dashboard using data from multiple business systems.</a:t>
            </a:r>
          </a:p>
        </p:txBody>
      </p:sp>
    </p:spTree>
    <p:extLst>
      <p:ext uri="{BB962C8B-B14F-4D97-AF65-F5344CB8AC3E}">
        <p14:creationId xmlns:p14="http://schemas.microsoft.com/office/powerpoint/2010/main" val="2345524596"/>
      </p:ext>
    </p:extLst>
  </p:cSld>
  <p:clrMapOvr>
    <a:masterClrMapping/>
  </p:clrMapOvr>
  <p:transition spd="slow">
    <p:cover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579C6C-43D3-E1F1-D361-C1B12D6AFABD}"/>
              </a:ext>
            </a:extLst>
          </p:cNvPr>
          <p:cNvSpPr txBox="1"/>
          <p:nvPr/>
        </p:nvSpPr>
        <p:spPr>
          <a:xfrm>
            <a:off x="4336775" y="153767"/>
            <a:ext cx="35184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  <a:latin typeface="+mj-lt"/>
              </a:rPr>
              <a:t>DATA SOURCES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8E42BC-BE56-283B-331B-7774639F6503}"/>
              </a:ext>
            </a:extLst>
          </p:cNvPr>
          <p:cNvSpPr/>
          <p:nvPr/>
        </p:nvSpPr>
        <p:spPr>
          <a:xfrm>
            <a:off x="762000" y="1003852"/>
            <a:ext cx="6732104" cy="1610139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70C0"/>
                </a:solidFill>
              </a:rPr>
              <a:t>1. ENTERPRISE DATABASE:</a:t>
            </a:r>
          </a:p>
          <a:p>
            <a:r>
              <a:rPr lang="en-IN" b="1" dirty="0"/>
              <a:t>SQLite Database</a:t>
            </a:r>
            <a:br>
              <a:rPr lang="en-IN" dirty="0"/>
            </a:br>
            <a:r>
              <a:rPr lang="en-IN" dirty="0"/>
              <a:t>• User accounts and historical records</a:t>
            </a:r>
            <a:br>
              <a:rPr lang="en-IN" dirty="0"/>
            </a:br>
            <a:r>
              <a:rPr lang="en-IN" dirty="0"/>
              <a:t>• Multiple status updates per user</a:t>
            </a:r>
            <a:br>
              <a:rPr lang="en-IN" dirty="0"/>
            </a:br>
            <a:r>
              <a:rPr lang="en-IN" dirty="0"/>
              <a:t>• Latest status identified using SQL Window Functions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13EDEB-F9C5-E7A5-6426-9B044E46C122}"/>
              </a:ext>
            </a:extLst>
          </p:cNvPr>
          <p:cNvSpPr/>
          <p:nvPr/>
        </p:nvSpPr>
        <p:spPr>
          <a:xfrm>
            <a:off x="762000" y="2817745"/>
            <a:ext cx="6732104" cy="177247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70C0"/>
                </a:solidFill>
              </a:rPr>
              <a:t>2. Server Logs:</a:t>
            </a:r>
          </a:p>
          <a:p>
            <a:r>
              <a:rPr lang="en-IN" b="1" dirty="0"/>
              <a:t>100,000 Raw Transaction Logs</a:t>
            </a:r>
            <a:br>
              <a:rPr lang="en-IN" dirty="0"/>
            </a:br>
            <a:r>
              <a:rPr lang="en-IN" dirty="0"/>
              <a:t>• Transaction details stored in text</a:t>
            </a:r>
            <a:br>
              <a:rPr lang="en-IN" dirty="0"/>
            </a:br>
            <a:r>
              <a:rPr lang="en-IN" dirty="0"/>
              <a:t>• ERROR records filtered out</a:t>
            </a:r>
            <a:br>
              <a:rPr lang="en-IN" dirty="0"/>
            </a:br>
            <a:r>
              <a:rPr lang="en-IN" dirty="0"/>
              <a:t>• Regex used to extract Date, User ID, Product ID and Euro Value</a:t>
            </a:r>
            <a:endParaRPr lang="en-IN" b="1" dirty="0">
              <a:solidFill>
                <a:srgbClr val="0070C0"/>
              </a:solidFill>
            </a:endParaRPr>
          </a:p>
          <a:p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607DF54-9737-2A41-8FFB-BB18A839F7F2}"/>
              </a:ext>
            </a:extLst>
          </p:cNvPr>
          <p:cNvSpPr/>
          <p:nvPr/>
        </p:nvSpPr>
        <p:spPr>
          <a:xfrm>
            <a:off x="762000" y="4793975"/>
            <a:ext cx="6732104" cy="177247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70C0"/>
                </a:solidFill>
              </a:rPr>
              <a:t>3. Exchange Rates:</a:t>
            </a:r>
          </a:p>
          <a:p>
            <a:r>
              <a:rPr lang="en-IN" b="1" dirty="0"/>
              <a:t>Daily EUR → USD Rates</a:t>
            </a:r>
            <a:br>
              <a:rPr lang="en-IN" dirty="0"/>
            </a:br>
            <a:r>
              <a:rPr lang="en-IN" dirty="0"/>
              <a:t>• 365-day exchange-rate dataset</a:t>
            </a:r>
            <a:br>
              <a:rPr lang="en-IN" dirty="0"/>
            </a:br>
            <a:r>
              <a:rPr lang="en-IN" dirty="0"/>
              <a:t>• Weekend dates were missing</a:t>
            </a:r>
            <a:br>
              <a:rPr lang="en-IN" dirty="0"/>
            </a:br>
            <a:r>
              <a:rPr lang="en-IN" dirty="0"/>
              <a:t>• Forward-fill(</a:t>
            </a:r>
            <a:r>
              <a:rPr lang="en-IN" dirty="0" err="1"/>
              <a:t>ffill</a:t>
            </a:r>
            <a:r>
              <a:rPr lang="en-IN"/>
              <a:t>) </a:t>
            </a:r>
            <a:r>
              <a:rPr lang="en-IN" dirty="0"/>
              <a:t>used for temporal reconciliation</a:t>
            </a:r>
            <a:endParaRPr lang="en-IN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70725"/>
      </p:ext>
    </p:extLst>
  </p:cSld>
  <p:clrMapOvr>
    <a:masterClrMapping/>
  </p:clrMapOvr>
  <p:transition spd="slow">
    <p:cover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B891F6-7B35-13FD-33F6-931892C1395F}"/>
              </a:ext>
            </a:extLst>
          </p:cNvPr>
          <p:cNvSpPr txBox="1"/>
          <p:nvPr/>
        </p:nvSpPr>
        <p:spPr>
          <a:xfrm>
            <a:off x="3551582" y="95646"/>
            <a:ext cx="50888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0070C0"/>
                </a:solidFill>
                <a:latin typeface="+mj-lt"/>
              </a:rPr>
              <a:t>Data Processing Pipeline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50878B-41A9-5711-321F-F21E70FF4499}"/>
              </a:ext>
            </a:extLst>
          </p:cNvPr>
          <p:cNvSpPr/>
          <p:nvPr/>
        </p:nvSpPr>
        <p:spPr>
          <a:xfrm>
            <a:off x="318052" y="1323505"/>
            <a:ext cx="3458808" cy="173932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0070C0"/>
                </a:solidFill>
              </a:rPr>
              <a:t>1. SQL EXTRACTION:</a:t>
            </a:r>
          </a:p>
          <a:p>
            <a:r>
              <a:rPr lang="en-IN" sz="1600" dirty="0"/>
              <a:t>Used SQL Window Functions to identify the latest record for each user and retain only Active users.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4ECAF24-1D01-44A1-DC0B-76E8495CA5B0}"/>
              </a:ext>
            </a:extLst>
          </p:cNvPr>
          <p:cNvSpPr/>
          <p:nvPr/>
        </p:nvSpPr>
        <p:spPr>
          <a:xfrm>
            <a:off x="4422917" y="1323501"/>
            <a:ext cx="3458809" cy="173932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70C0"/>
                </a:solidFill>
              </a:rPr>
              <a:t>2.</a:t>
            </a:r>
            <a:r>
              <a:rPr lang="en-IN" b="1" dirty="0">
                <a:solidFill>
                  <a:srgbClr val="0070C0"/>
                </a:solidFill>
              </a:rPr>
              <a:t> REGEX EXTRACTION:</a:t>
            </a:r>
          </a:p>
          <a:p>
            <a:r>
              <a:rPr lang="en-IN" sz="1600" dirty="0"/>
              <a:t>Parsed 100,000 raw server logs and extracted Date, User ID, Product ID and Euro Value using Regex.</a:t>
            </a:r>
            <a:endParaRPr lang="en-IN" sz="1600" b="1" dirty="0">
              <a:solidFill>
                <a:srgbClr val="0070C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DBCB07-D1AA-FA06-8039-311769475180}"/>
              </a:ext>
            </a:extLst>
          </p:cNvPr>
          <p:cNvSpPr/>
          <p:nvPr/>
        </p:nvSpPr>
        <p:spPr>
          <a:xfrm>
            <a:off x="8527783" y="1323505"/>
            <a:ext cx="3458808" cy="173932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0070C0"/>
                </a:solidFill>
              </a:rPr>
              <a:t>3. CLEAN &amp; VALIDATE:</a:t>
            </a:r>
          </a:p>
          <a:p>
            <a:r>
              <a:rPr lang="en-IN" sz="1600" dirty="0"/>
              <a:t>Filtered ERROR logs, converted data types and checked the extracted transaction data for missing values.</a:t>
            </a:r>
            <a:endParaRPr lang="en-IN" sz="1600" b="1" dirty="0">
              <a:solidFill>
                <a:srgbClr val="0070C0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7AD2F8B-B4AB-9323-2312-EEEED6667755}"/>
              </a:ext>
            </a:extLst>
          </p:cNvPr>
          <p:cNvSpPr/>
          <p:nvPr/>
        </p:nvSpPr>
        <p:spPr>
          <a:xfrm>
            <a:off x="6798379" y="3644356"/>
            <a:ext cx="3458808" cy="1739335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0070C0"/>
                </a:solidFill>
              </a:rPr>
              <a:t>5. POWER BI:</a:t>
            </a:r>
          </a:p>
          <a:p>
            <a:r>
              <a:rPr lang="en-IN" sz="1600" dirty="0"/>
              <a:t>Built an interactive dashboard showing monthly revenue trends, total USD revenue and the Top 5 customers.</a:t>
            </a:r>
            <a:endParaRPr lang="en-IN" sz="1600" b="1" dirty="0">
              <a:solidFill>
                <a:srgbClr val="0070C0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491F05D-7CC5-AADD-B59F-C2554F481D85}"/>
              </a:ext>
            </a:extLst>
          </p:cNvPr>
          <p:cNvSpPr/>
          <p:nvPr/>
        </p:nvSpPr>
        <p:spPr>
          <a:xfrm>
            <a:off x="2130291" y="3644356"/>
            <a:ext cx="3458808" cy="173933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0070C0"/>
                </a:solidFill>
              </a:rPr>
              <a:t>4. FINANCIAL RECONCILIATION:</a:t>
            </a:r>
          </a:p>
          <a:p>
            <a:r>
              <a:rPr lang="en-IN" sz="1600" dirty="0"/>
              <a:t>Forward-filled missing weekend exchange rates and calculated USD Revenue from EUR transaction values</a:t>
            </a:r>
            <a:r>
              <a:rPr lang="en-IN" dirty="0"/>
              <a:t>.</a:t>
            </a:r>
            <a:endParaRPr lang="en-IN" b="1" dirty="0">
              <a:solidFill>
                <a:srgbClr val="0070C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0A57E1-7ED4-74E4-5320-FCD65BEC6BAB}"/>
              </a:ext>
            </a:extLst>
          </p:cNvPr>
          <p:cNvCxnSpPr/>
          <p:nvPr/>
        </p:nvCxnSpPr>
        <p:spPr>
          <a:xfrm>
            <a:off x="3922643" y="2193164"/>
            <a:ext cx="3114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1409432-4DD0-257D-34E1-1B513DB74A0E}"/>
              </a:ext>
            </a:extLst>
          </p:cNvPr>
          <p:cNvCxnSpPr/>
          <p:nvPr/>
        </p:nvCxnSpPr>
        <p:spPr>
          <a:xfrm>
            <a:off x="8050695" y="2113722"/>
            <a:ext cx="3710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C976957-E092-3C73-CC0A-AE3ABF01EB4B}"/>
              </a:ext>
            </a:extLst>
          </p:cNvPr>
          <p:cNvCxnSpPr>
            <a:cxnSpLocks/>
          </p:cNvCxnSpPr>
          <p:nvPr/>
        </p:nvCxnSpPr>
        <p:spPr>
          <a:xfrm>
            <a:off x="1345095" y="4462672"/>
            <a:ext cx="4373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4BFDD9-C812-C89A-983C-290111C3F362}"/>
              </a:ext>
            </a:extLst>
          </p:cNvPr>
          <p:cNvCxnSpPr>
            <a:cxnSpLocks/>
          </p:cNvCxnSpPr>
          <p:nvPr/>
        </p:nvCxnSpPr>
        <p:spPr>
          <a:xfrm>
            <a:off x="5966791" y="4467640"/>
            <a:ext cx="4306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457302"/>
      </p:ext>
    </p:extLst>
  </p:cSld>
  <p:clrMapOvr>
    <a:masterClrMapping/>
  </p:clrMapOvr>
  <p:transition spd="slow">
    <p:cover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558E79-8D54-8A61-7668-2801BD11670E}"/>
              </a:ext>
            </a:extLst>
          </p:cNvPr>
          <p:cNvSpPr txBox="1"/>
          <p:nvPr/>
        </p:nvSpPr>
        <p:spPr>
          <a:xfrm>
            <a:off x="3087756" y="132379"/>
            <a:ext cx="60164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0070C0"/>
                </a:solidFill>
                <a:latin typeface="+mj-lt"/>
              </a:rPr>
              <a:t>DATA QUALITY &amp; VALIDATION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418D39-9484-F059-FD9E-ECE211750949}"/>
              </a:ext>
            </a:extLst>
          </p:cNvPr>
          <p:cNvSpPr/>
          <p:nvPr/>
        </p:nvSpPr>
        <p:spPr>
          <a:xfrm>
            <a:off x="1012466" y="1264070"/>
            <a:ext cx="3085104" cy="1520544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100,000</a:t>
            </a:r>
          </a:p>
          <a:p>
            <a:pPr algn="ctr"/>
            <a:r>
              <a:rPr lang="en-IN" dirty="0"/>
              <a:t>Raw Server Log Rows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1A9341-A807-E16F-2964-5CE1D40A0597}"/>
              </a:ext>
            </a:extLst>
          </p:cNvPr>
          <p:cNvSpPr/>
          <p:nvPr/>
        </p:nvSpPr>
        <p:spPr>
          <a:xfrm>
            <a:off x="4666753" y="1264070"/>
            <a:ext cx="3006916" cy="1520544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94,902</a:t>
            </a:r>
          </a:p>
          <a:p>
            <a:pPr algn="ctr"/>
            <a:r>
              <a:rPr lang="en-IN" dirty="0"/>
              <a:t>Valid INFO Transactions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A4B981-6352-81B3-028F-9AE4C17EDC96}"/>
              </a:ext>
            </a:extLst>
          </p:cNvPr>
          <p:cNvSpPr/>
          <p:nvPr/>
        </p:nvSpPr>
        <p:spPr>
          <a:xfrm>
            <a:off x="8242852" y="1264070"/>
            <a:ext cx="2936682" cy="1520544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5,098</a:t>
            </a:r>
          </a:p>
          <a:p>
            <a:pPr algn="ctr"/>
            <a:r>
              <a:rPr lang="en-IN" dirty="0"/>
              <a:t>ERROR Logs Filtered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7C36E18-350A-30C9-D3DB-2184DBFC37B8}"/>
              </a:ext>
            </a:extLst>
          </p:cNvPr>
          <p:cNvSpPr/>
          <p:nvPr/>
        </p:nvSpPr>
        <p:spPr>
          <a:xfrm>
            <a:off x="8242851" y="3269974"/>
            <a:ext cx="2936682" cy="1520542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0</a:t>
            </a:r>
          </a:p>
          <a:p>
            <a:pPr algn="ctr"/>
            <a:r>
              <a:rPr lang="en-IN" dirty="0"/>
              <a:t>Duplicate Final Records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09751A1-7D9B-F1E3-D53E-9D1D9B771BE2}"/>
              </a:ext>
            </a:extLst>
          </p:cNvPr>
          <p:cNvSpPr/>
          <p:nvPr/>
        </p:nvSpPr>
        <p:spPr>
          <a:xfrm>
            <a:off x="4666752" y="3269973"/>
            <a:ext cx="3006915" cy="152054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53,899</a:t>
            </a:r>
          </a:p>
          <a:p>
            <a:pPr algn="ctr"/>
            <a:r>
              <a:rPr lang="en-IN" dirty="0"/>
              <a:t>Final Reconciled Records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293C95A-4156-6D26-620B-32F798B7E998}"/>
              </a:ext>
            </a:extLst>
          </p:cNvPr>
          <p:cNvSpPr/>
          <p:nvPr/>
        </p:nvSpPr>
        <p:spPr>
          <a:xfrm>
            <a:off x="1012466" y="3269972"/>
            <a:ext cx="3085104" cy="1520544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14,183</a:t>
            </a:r>
          </a:p>
          <a:p>
            <a:pPr algn="ctr"/>
            <a:r>
              <a:rPr lang="en-IN" dirty="0"/>
              <a:t>Latest Active Users</a:t>
            </a:r>
            <a:endParaRPr lang="en-IN" dirty="0">
              <a:solidFill>
                <a:srgbClr val="0070C0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C021CA-DF69-D28A-8E35-7BEBDD0277BD}"/>
              </a:ext>
            </a:extLst>
          </p:cNvPr>
          <p:cNvSpPr txBox="1"/>
          <p:nvPr/>
        </p:nvSpPr>
        <p:spPr>
          <a:xfrm>
            <a:off x="2090531" y="5409264"/>
            <a:ext cx="8010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“Final dataset validated with no missing User IDs or USD Revenue values.”</a:t>
            </a:r>
          </a:p>
        </p:txBody>
      </p:sp>
    </p:spTree>
    <p:extLst>
      <p:ext uri="{BB962C8B-B14F-4D97-AF65-F5344CB8AC3E}">
        <p14:creationId xmlns:p14="http://schemas.microsoft.com/office/powerpoint/2010/main" val="2012101964"/>
      </p:ext>
    </p:extLst>
  </p:cSld>
  <p:clrMapOvr>
    <a:masterClrMapping/>
  </p:clrMapOvr>
  <p:transition spd="slow">
    <p:cover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061894-7473-4D98-F039-3A6BB8BD006B}"/>
              </a:ext>
            </a:extLst>
          </p:cNvPr>
          <p:cNvSpPr txBox="1"/>
          <p:nvPr/>
        </p:nvSpPr>
        <p:spPr>
          <a:xfrm>
            <a:off x="1924879" y="315604"/>
            <a:ext cx="83422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  <a:latin typeface="+mj-lt"/>
              </a:rPr>
              <a:t>FINANCIAL ANALYSIS &amp; KEY RESULTS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E0D087-0008-8844-781C-0D451920AA8A}"/>
              </a:ext>
            </a:extLst>
          </p:cNvPr>
          <p:cNvSpPr/>
          <p:nvPr/>
        </p:nvSpPr>
        <p:spPr>
          <a:xfrm>
            <a:off x="119268" y="1889983"/>
            <a:ext cx="3094383" cy="136663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148.27M</a:t>
            </a:r>
            <a:br>
              <a:rPr lang="en-IN" dirty="0"/>
            </a:br>
            <a:r>
              <a:rPr lang="en-IN" dirty="0"/>
              <a:t>Total USD Revenue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B53BD9-2378-AA85-3AC0-F4F772FACA69}"/>
              </a:ext>
            </a:extLst>
          </p:cNvPr>
          <p:cNvSpPr/>
          <p:nvPr/>
        </p:nvSpPr>
        <p:spPr>
          <a:xfrm>
            <a:off x="3306416" y="1860994"/>
            <a:ext cx="2835965" cy="142460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12.84M</a:t>
            </a:r>
            <a:br>
              <a:rPr lang="en-IN" dirty="0"/>
            </a:br>
            <a:r>
              <a:rPr lang="en-IN" dirty="0"/>
              <a:t>Highest Monthly Revenue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3C6C5C2-092B-2F75-96DB-511251CF51DD}"/>
              </a:ext>
            </a:extLst>
          </p:cNvPr>
          <p:cNvSpPr/>
          <p:nvPr/>
        </p:nvSpPr>
        <p:spPr>
          <a:xfrm>
            <a:off x="6235146" y="1869168"/>
            <a:ext cx="2915477" cy="142460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11.44M</a:t>
            </a:r>
            <a:br>
              <a:rPr lang="en-IN" dirty="0"/>
            </a:br>
            <a:r>
              <a:rPr lang="en-IN" dirty="0"/>
              <a:t>Lowest Monthly Revenue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2C939CA-4569-156C-9FC4-69346F59DB56}"/>
              </a:ext>
            </a:extLst>
          </p:cNvPr>
          <p:cNvSpPr/>
          <p:nvPr/>
        </p:nvSpPr>
        <p:spPr>
          <a:xfrm>
            <a:off x="9236767" y="1869168"/>
            <a:ext cx="2835965" cy="142460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40.05K</a:t>
            </a:r>
            <a:br>
              <a:rPr lang="en-IN" dirty="0"/>
            </a:br>
            <a:r>
              <a:rPr lang="en-IN" dirty="0"/>
              <a:t>Top Customer Revenue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1E107C0-DA9A-40EF-E417-C6DC58A3FC7E}"/>
              </a:ext>
            </a:extLst>
          </p:cNvPr>
          <p:cNvSpPr/>
          <p:nvPr/>
        </p:nvSpPr>
        <p:spPr>
          <a:xfrm>
            <a:off x="381000" y="3985880"/>
            <a:ext cx="11430000" cy="1968452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70C0"/>
                </a:solidFill>
              </a:rPr>
              <a:t>KEY INSIGHTS:</a:t>
            </a:r>
          </a:p>
          <a:p>
            <a:r>
              <a:rPr lang="en-IN" dirty="0"/>
              <a:t>• January recorded the highest monthly revenue at approximately $12.84M.</a:t>
            </a:r>
          </a:p>
          <a:p>
            <a:r>
              <a:rPr lang="en-IN" dirty="0"/>
              <a:t>• February recorded the lowest monthly revenue at approximately $11.44M.</a:t>
            </a:r>
          </a:p>
          <a:p>
            <a:r>
              <a:rPr lang="en-IN" dirty="0"/>
              <a:t>• The Top 5 customers contributed significant individual revenue, with the highest customer generating approximately $40.05K.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2904769"/>
      </p:ext>
    </p:extLst>
  </p:cSld>
  <p:clrMapOvr>
    <a:masterClrMapping/>
  </p:clrMapOvr>
  <p:transition spd="slow">
    <p:cover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B9E1DE-1ECA-FB76-C869-428B407A0E02}"/>
              </a:ext>
            </a:extLst>
          </p:cNvPr>
          <p:cNvSpPr txBox="1"/>
          <p:nvPr/>
        </p:nvSpPr>
        <p:spPr>
          <a:xfrm>
            <a:off x="543340" y="0"/>
            <a:ext cx="11105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  <a:latin typeface="+mj-lt"/>
              </a:rPr>
              <a:t>POWER BI FINANCIAL AUDIT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C6AEC1-0E0F-BB37-5A30-145E1700D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992" y="579455"/>
            <a:ext cx="11536015" cy="52183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109B21-EF55-08DA-91F6-088DC2AD2BF6}"/>
              </a:ext>
            </a:extLst>
          </p:cNvPr>
          <p:cNvSpPr txBox="1"/>
          <p:nvPr/>
        </p:nvSpPr>
        <p:spPr>
          <a:xfrm>
            <a:off x="672548" y="6054115"/>
            <a:ext cx="10846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rgbClr val="0070C0"/>
                </a:solidFill>
              </a:rPr>
              <a:t>Interactive dashboard with date filtering, revenue trend analysis and Top 5 customer identification.</a:t>
            </a:r>
          </a:p>
        </p:txBody>
      </p:sp>
    </p:spTree>
    <p:extLst>
      <p:ext uri="{BB962C8B-B14F-4D97-AF65-F5344CB8AC3E}">
        <p14:creationId xmlns:p14="http://schemas.microsoft.com/office/powerpoint/2010/main" val="3680504143"/>
      </p:ext>
    </p:extLst>
  </p:cSld>
  <p:clrMapOvr>
    <a:masterClrMapping/>
  </p:clrMapOvr>
  <p:transition spd="slow">
    <p:cover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E1BB2F-1D4D-AFDB-D8BC-D7AA39158998}"/>
              </a:ext>
            </a:extLst>
          </p:cNvPr>
          <p:cNvSpPr txBox="1"/>
          <p:nvPr/>
        </p:nvSpPr>
        <p:spPr>
          <a:xfrm>
            <a:off x="2564297" y="169829"/>
            <a:ext cx="7063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0070C0"/>
                </a:solidFill>
                <a:latin typeface="+mj-lt"/>
              </a:rPr>
              <a:t>BUSINESS INSIGHTS &amp; FINDINGS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A4CE7A-A738-FB6E-EA71-0780A6DCED69}"/>
              </a:ext>
            </a:extLst>
          </p:cNvPr>
          <p:cNvSpPr/>
          <p:nvPr/>
        </p:nvSpPr>
        <p:spPr>
          <a:xfrm>
            <a:off x="775252" y="1152939"/>
            <a:ext cx="5042452" cy="266368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70C0"/>
                </a:solidFill>
              </a:rPr>
              <a:t>REVENUE TREND</a:t>
            </a:r>
          </a:p>
          <a:p>
            <a:pPr algn="ctr"/>
            <a:endParaRPr lang="en-IN" dirty="0"/>
          </a:p>
          <a:p>
            <a:r>
              <a:rPr lang="en-IN" dirty="0"/>
              <a:t>“Monthly revenue remained relatively stable throughout the year, with January recording the highest revenue and February the lowest.”</a:t>
            </a:r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1BAC09-41FD-8E9C-A473-00F4F0C33024}"/>
              </a:ext>
            </a:extLst>
          </p:cNvPr>
          <p:cNvSpPr/>
          <p:nvPr/>
        </p:nvSpPr>
        <p:spPr>
          <a:xfrm>
            <a:off x="6526695" y="4024484"/>
            <a:ext cx="5161722" cy="266368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70C0"/>
                </a:solidFill>
              </a:rPr>
              <a:t>BUSINESS VALUE</a:t>
            </a:r>
          </a:p>
          <a:p>
            <a:pPr algn="ctr"/>
            <a:endParaRPr lang="en-IN" sz="2000" dirty="0">
              <a:solidFill>
                <a:srgbClr val="0070C0"/>
              </a:solidFill>
            </a:endParaRPr>
          </a:p>
          <a:p>
            <a:r>
              <a:rPr lang="en-IN" dirty="0"/>
              <a:t>“The dashboard enables decision-makers to monitor revenue performance, filter results by date and identify valuable customers quickly.”</a:t>
            </a:r>
          </a:p>
          <a:p>
            <a:pPr algn="ctr"/>
            <a:endParaRPr lang="en-IN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035D7D0-15A7-A2F5-FA94-A4831DBE7847}"/>
              </a:ext>
            </a:extLst>
          </p:cNvPr>
          <p:cNvSpPr/>
          <p:nvPr/>
        </p:nvSpPr>
        <p:spPr>
          <a:xfrm>
            <a:off x="775252" y="4024484"/>
            <a:ext cx="5042452" cy="266368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70C0"/>
                </a:solidFill>
              </a:rPr>
              <a:t>DATA RECONCILIATION</a:t>
            </a:r>
          </a:p>
          <a:p>
            <a:pPr algn="ctr"/>
            <a:endParaRPr lang="en-IN" sz="2000" dirty="0"/>
          </a:p>
          <a:p>
            <a:r>
              <a:rPr lang="en-IN" dirty="0"/>
              <a:t>“Combining transaction logs, customer history and exchange rates produced a reliable reconciled dataset for financial analysis.”</a:t>
            </a:r>
          </a:p>
          <a:p>
            <a:pPr algn="ctr"/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080D801-36BD-34BF-49DC-28CF5F4A4FFF}"/>
              </a:ext>
            </a:extLst>
          </p:cNvPr>
          <p:cNvSpPr/>
          <p:nvPr/>
        </p:nvSpPr>
        <p:spPr>
          <a:xfrm>
            <a:off x="6526695" y="1152939"/>
            <a:ext cx="5042452" cy="2684141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70C0"/>
                </a:solidFill>
              </a:rPr>
              <a:t>CUSTOMER VALUE</a:t>
            </a:r>
          </a:p>
          <a:p>
            <a:pPr algn="ctr"/>
            <a:endParaRPr lang="en-IN" sz="2000" b="1" dirty="0">
              <a:solidFill>
                <a:srgbClr val="0070C0"/>
              </a:solidFill>
            </a:endParaRPr>
          </a:p>
          <a:p>
            <a:r>
              <a:rPr lang="en-IN" dirty="0"/>
              <a:t>“The Top 5 customers generated substantial individual revenue, helping identify high-value customers for focused retention strategies.”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3429012"/>
      </p:ext>
    </p:extLst>
  </p:cSld>
  <p:clrMapOvr>
    <a:masterClrMapping/>
  </p:clrMapOvr>
  <p:transition spd="slow">
    <p:cover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2D6CF8-034B-728A-3990-17461EDB371D}"/>
              </a:ext>
            </a:extLst>
          </p:cNvPr>
          <p:cNvSpPr txBox="1"/>
          <p:nvPr/>
        </p:nvSpPr>
        <p:spPr>
          <a:xfrm>
            <a:off x="3048000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0070C0"/>
                </a:solidFill>
                <a:latin typeface="+mj-lt"/>
              </a:rPr>
              <a:t>TOOLS &amp; TECHNICAL SKILLS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F1B101-3528-7C1B-D43F-7DB9205605D9}"/>
              </a:ext>
            </a:extLst>
          </p:cNvPr>
          <p:cNvSpPr/>
          <p:nvPr/>
        </p:nvSpPr>
        <p:spPr>
          <a:xfrm>
            <a:off x="629478" y="781878"/>
            <a:ext cx="5204790" cy="2531165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0070C0"/>
                </a:solidFill>
              </a:rPr>
              <a:t>PYTHON</a:t>
            </a:r>
            <a:endParaRPr lang="en-IN" dirty="0">
              <a:solidFill>
                <a:srgbClr val="0070C0"/>
              </a:solidFill>
            </a:endParaRPr>
          </a:p>
          <a:p>
            <a:r>
              <a:rPr lang="en-IN" sz="2000" dirty="0"/>
              <a:t>• Pandas &amp; NumPy</a:t>
            </a:r>
            <a:br>
              <a:rPr lang="en-IN" sz="2000" dirty="0"/>
            </a:br>
            <a:r>
              <a:rPr lang="en-IN" sz="2000" dirty="0"/>
              <a:t>• Regex &amp; string parsing</a:t>
            </a:r>
            <a:br>
              <a:rPr lang="en-IN" sz="2000" dirty="0"/>
            </a:br>
            <a:r>
              <a:rPr lang="en-IN" sz="2000" dirty="0"/>
              <a:t>• Data cleaning &amp; transformation</a:t>
            </a:r>
            <a:br>
              <a:rPr lang="en-IN" sz="2000" dirty="0"/>
            </a:br>
            <a:r>
              <a:rPr lang="en-IN" sz="2000" dirty="0"/>
              <a:t>• Data visualization</a:t>
            </a:r>
          </a:p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1C6D1A-B5D5-3CFA-5E56-C8DDAEFC9F6D}"/>
              </a:ext>
            </a:extLst>
          </p:cNvPr>
          <p:cNvSpPr/>
          <p:nvPr/>
        </p:nvSpPr>
        <p:spPr>
          <a:xfrm>
            <a:off x="6460435" y="3544958"/>
            <a:ext cx="5204791" cy="2637181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0070C0"/>
                </a:solidFill>
              </a:rPr>
              <a:t>DATA ANALYTICS</a:t>
            </a:r>
          </a:p>
          <a:p>
            <a:r>
              <a:rPr lang="en-IN" sz="2000" dirty="0"/>
              <a:t>• Data validation</a:t>
            </a:r>
            <a:br>
              <a:rPr lang="en-IN" sz="2000" dirty="0"/>
            </a:br>
            <a:r>
              <a:rPr lang="en-IN" sz="2000" dirty="0"/>
              <a:t>• Financial reconciliation</a:t>
            </a:r>
            <a:br>
              <a:rPr lang="en-IN" sz="2000" dirty="0"/>
            </a:br>
            <a:r>
              <a:rPr lang="en-IN" sz="2000" dirty="0"/>
              <a:t>• Aggregation &amp; KPI analysis</a:t>
            </a:r>
            <a:br>
              <a:rPr lang="en-IN" sz="2000" dirty="0"/>
            </a:br>
            <a:r>
              <a:rPr lang="en-IN" sz="2000" dirty="0"/>
              <a:t>• Business insights</a:t>
            </a:r>
          </a:p>
          <a:p>
            <a:pPr algn="ctr"/>
            <a:endParaRPr lang="en-IN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A8E9BC-9156-CBD5-0276-07FC08A19321}"/>
              </a:ext>
            </a:extLst>
          </p:cNvPr>
          <p:cNvSpPr/>
          <p:nvPr/>
        </p:nvSpPr>
        <p:spPr>
          <a:xfrm>
            <a:off x="629478" y="3650973"/>
            <a:ext cx="5204790" cy="253116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0070C0"/>
                </a:solidFill>
              </a:rPr>
              <a:t>POWER BI</a:t>
            </a:r>
            <a:endParaRPr lang="en-IN" sz="2400" dirty="0">
              <a:solidFill>
                <a:srgbClr val="0070C0"/>
              </a:solidFill>
            </a:endParaRPr>
          </a:p>
          <a:p>
            <a:r>
              <a:rPr lang="en-IN" sz="2000" dirty="0"/>
              <a:t>• Data import &amp; modelling</a:t>
            </a:r>
            <a:br>
              <a:rPr lang="en-IN" sz="2000" dirty="0"/>
            </a:br>
            <a:r>
              <a:rPr lang="en-IN" sz="2000" dirty="0"/>
              <a:t>• DAX measures</a:t>
            </a:r>
            <a:br>
              <a:rPr lang="en-IN" sz="2000" dirty="0"/>
            </a:br>
            <a:r>
              <a:rPr lang="en-IN" sz="2000" dirty="0"/>
              <a:t>• Interactive date slicer</a:t>
            </a:r>
            <a:br>
              <a:rPr lang="en-IN" sz="2000" dirty="0"/>
            </a:br>
            <a:r>
              <a:rPr lang="en-IN" sz="2000" dirty="0"/>
              <a:t>• Revenue &amp; customer dashboards</a:t>
            </a:r>
          </a:p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12B2DE1-2EE8-13DC-8EEF-AD339694652D}"/>
              </a:ext>
            </a:extLst>
          </p:cNvPr>
          <p:cNvSpPr/>
          <p:nvPr/>
        </p:nvSpPr>
        <p:spPr>
          <a:xfrm>
            <a:off x="6460436" y="781878"/>
            <a:ext cx="5204790" cy="2531165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0070C0"/>
                </a:solidFill>
              </a:rPr>
              <a:t>SQL</a:t>
            </a:r>
            <a:endParaRPr lang="en-IN" dirty="0">
              <a:solidFill>
                <a:srgbClr val="0070C0"/>
              </a:solidFill>
            </a:endParaRPr>
          </a:p>
          <a:p>
            <a:r>
              <a:rPr lang="en-IN" sz="2000" dirty="0"/>
              <a:t>• SQLite database</a:t>
            </a:r>
            <a:br>
              <a:rPr lang="en-IN" sz="2000" dirty="0"/>
            </a:br>
            <a:r>
              <a:rPr lang="en-IN" sz="2000" dirty="0"/>
              <a:t>• Window Functions</a:t>
            </a:r>
            <a:br>
              <a:rPr lang="en-IN" sz="2000" dirty="0"/>
            </a:br>
            <a:r>
              <a:rPr lang="en-IN" sz="2000" dirty="0"/>
              <a:t>• ROW_NUMBER()</a:t>
            </a:r>
            <a:br>
              <a:rPr lang="en-IN" sz="2000" dirty="0"/>
            </a:br>
            <a:r>
              <a:rPr lang="en-IN" sz="2000" dirty="0"/>
              <a:t>• Historical record reconciliation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0962485"/>
      </p:ext>
    </p:extLst>
  </p:cSld>
  <p:clrMapOvr>
    <a:masterClrMapping/>
  </p:clrMapOvr>
  <p:transition spd="slow">
    <p:cover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8E582F-D227-BFB2-52BC-2887FBAD4AC6}"/>
              </a:ext>
            </a:extLst>
          </p:cNvPr>
          <p:cNvSpPr txBox="1"/>
          <p:nvPr/>
        </p:nvSpPr>
        <p:spPr>
          <a:xfrm>
            <a:off x="1782418" y="0"/>
            <a:ext cx="86271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  <a:latin typeface="+mj-lt"/>
              </a:rPr>
              <a:t>PROJECT OUTCOME &amp; CONCLUSION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A7340A-8230-062E-3A36-6B64652D0A8A}"/>
              </a:ext>
            </a:extLst>
          </p:cNvPr>
          <p:cNvSpPr/>
          <p:nvPr/>
        </p:nvSpPr>
        <p:spPr>
          <a:xfrm>
            <a:off x="477078" y="974035"/>
            <a:ext cx="11456505" cy="5380382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70C0"/>
                </a:solidFill>
              </a:rPr>
              <a:t>1. TECHNICAL OUTCOME:</a:t>
            </a:r>
          </a:p>
          <a:p>
            <a:r>
              <a:rPr lang="en-IN" dirty="0"/>
              <a:t>        Built an end-to-end data pipeline using Python and SQL to extract, clean, reconcile and transform data from multiple business systems.</a:t>
            </a:r>
          </a:p>
          <a:p>
            <a:endParaRPr lang="en-IN" dirty="0"/>
          </a:p>
          <a:p>
            <a:r>
              <a:rPr lang="en-IN" b="1" dirty="0"/>
              <a:t> </a:t>
            </a:r>
            <a:r>
              <a:rPr lang="en-IN" sz="2000" b="1" dirty="0">
                <a:solidFill>
                  <a:srgbClr val="0070C0"/>
                </a:solidFill>
              </a:rPr>
              <a:t>2. ANALYTICAL OUTCOME:</a:t>
            </a:r>
            <a:endParaRPr lang="en-IN" b="1" dirty="0">
              <a:solidFill>
                <a:srgbClr val="0070C0"/>
              </a:solidFill>
            </a:endParaRPr>
          </a:p>
          <a:p>
            <a:r>
              <a:rPr lang="en-IN" dirty="0"/>
              <a:t>        Created a reliable financial dataset and identified monthly revenue patterns and high-value customers through data analysis.</a:t>
            </a:r>
          </a:p>
          <a:p>
            <a:endParaRPr lang="en-IN" dirty="0"/>
          </a:p>
          <a:p>
            <a:r>
              <a:rPr lang="en-IN" sz="2000" b="1" dirty="0">
                <a:solidFill>
                  <a:srgbClr val="0070C0"/>
                </a:solidFill>
              </a:rPr>
              <a:t>3. BUSINESS OUTCOME:</a:t>
            </a:r>
          </a:p>
          <a:p>
            <a:r>
              <a:rPr lang="en-IN" dirty="0"/>
              <a:t>        Developed an interactive Power BI dashboard that enables financial performance monitoring and supports data-driven decision-making.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sz="2000" b="1" dirty="0"/>
              <a:t>“The project demonstrates the complete journey from raw enterprise data to actionable business intelligence.”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81222667"/>
      </p:ext>
    </p:extLst>
  </p:cSld>
  <p:clrMapOvr>
    <a:masterClrMapping/>
  </p:clrMapOvr>
  <p:transition spd="slow">
    <p:cover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BB7624-3A1F-2D89-2926-A9B261BDACD9}"/>
              </a:ext>
            </a:extLst>
          </p:cNvPr>
          <p:cNvSpPr txBox="1"/>
          <p:nvPr/>
        </p:nvSpPr>
        <p:spPr>
          <a:xfrm>
            <a:off x="3909391" y="198783"/>
            <a:ext cx="43732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solidFill>
                  <a:srgbClr val="0070C0"/>
                </a:solidFill>
                <a:latin typeface="+mj-lt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35D2F2-B013-7D5C-84A0-00F0A95B233D}"/>
              </a:ext>
            </a:extLst>
          </p:cNvPr>
          <p:cNvSpPr txBox="1"/>
          <p:nvPr/>
        </p:nvSpPr>
        <p:spPr>
          <a:xfrm>
            <a:off x="3733800" y="1841249"/>
            <a:ext cx="4724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0070C0"/>
                </a:solidFill>
              </a:rPr>
              <a:t>Questions &amp; Discussion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DC9BD3-D229-EFF9-90E6-D13C79EA84E9}"/>
              </a:ext>
            </a:extLst>
          </p:cNvPr>
          <p:cNvSpPr txBox="1"/>
          <p:nvPr/>
        </p:nvSpPr>
        <p:spPr>
          <a:xfrm>
            <a:off x="2395331" y="3429000"/>
            <a:ext cx="74013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Enterprise Financial Audit Dashboard Python • SQL • Power BI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38430D-831A-DCAE-CE91-A414E01DFF9C}"/>
              </a:ext>
            </a:extLst>
          </p:cNvPr>
          <p:cNvSpPr txBox="1"/>
          <p:nvPr/>
        </p:nvSpPr>
        <p:spPr>
          <a:xfrm>
            <a:off x="4212535" y="5449177"/>
            <a:ext cx="37669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MANASA A | 2026</a:t>
            </a:r>
          </a:p>
        </p:txBody>
      </p:sp>
    </p:spTree>
    <p:extLst>
      <p:ext uri="{BB962C8B-B14F-4D97-AF65-F5344CB8AC3E}">
        <p14:creationId xmlns:p14="http://schemas.microsoft.com/office/powerpoint/2010/main" val="2185111818"/>
      </p:ext>
    </p:extLst>
  </p:cSld>
  <p:clrMapOvr>
    <a:masterClrMapping/>
  </p:clrMapOvr>
  <p:transition spd="slow">
    <p:cover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</TotalTime>
  <Words>757</Words>
  <Application>Microsoft Office PowerPoint</Application>
  <PresentationFormat>Widescreen</PresentationFormat>
  <Paragraphs>104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Manasa A</dc:creator>
  <cp:lastModifiedBy>Manasa A</cp:lastModifiedBy>
  <cp:revision>1</cp:revision>
  <dcterms:created xsi:type="dcterms:W3CDTF">2026-09-15T16:12:01Z</dcterms:created>
  <dcterms:modified xsi:type="dcterms:W3CDTF">2026-09-16T10:46:26Z</dcterms:modified>
</cp:coreProperties>
</file>